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ca4729e5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bca4729e5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bc9e22af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bc9e22af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d1bf9a3a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bd1bf9a3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c9e22afb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c9e22afb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d1bf9a3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d1bf9a3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d1bf9a3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d1bf9a3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d1bf9a3a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d1bf9a3a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c9e22afb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c9e22afb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d1bf9a3a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d1bf9a3a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bd4af39f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bd4af39f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d1bf9a3a3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bd1bf9a3a3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bd1bf9a3a3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bd1bf9a3a3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c9e22afb4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c9e22afb4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d1bf9a3a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d1bf9a3a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d1bf9a3a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d1bf9a3a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d1bf9a3a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d1bf9a3a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c9e22afb4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c9e22afb4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d3cf147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d3cf147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d3cf147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d3cf147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199775" y="0"/>
            <a:ext cx="944226" cy="7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0" y="0"/>
            <a:ext cx="198900" cy="5143500"/>
          </a:xfrm>
          <a:prstGeom prst="roundRect">
            <a:avLst>
              <a:gd fmla="val 16667" name="adj"/>
            </a:avLst>
          </a:prstGeom>
          <a:solidFill>
            <a:srgbClr val="27AA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4955225"/>
            <a:ext cx="9144000" cy="188400"/>
          </a:xfrm>
          <a:prstGeom prst="roundRect">
            <a:avLst>
              <a:gd fmla="val 16667" name="adj"/>
            </a:avLst>
          </a:prstGeom>
          <a:solidFill>
            <a:srgbClr val="05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kkio.com/post/telecom-customer-churn#:~:text=The%20telecom%20industry%20is%20plagued,%2C%20product%20failure%2C%20and%20price." TargetMode="External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pwc.com/us/en/services/consulting/library/consumer-intelligence-series/future-of-customer-experienc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711050" y="768650"/>
            <a:ext cx="8310300" cy="12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80">
                <a:solidFill>
                  <a:srgbClr val="053661"/>
                </a:solidFill>
              </a:rPr>
              <a:t>Churn Rate &amp; </a:t>
            </a:r>
            <a:r>
              <a:rPr b="1" lang="en" sz="3780">
                <a:solidFill>
                  <a:srgbClr val="053661"/>
                </a:solidFill>
              </a:rPr>
              <a:t>Customer Retention Information Deck</a:t>
            </a:r>
            <a:endParaRPr b="1" sz="3780">
              <a:solidFill>
                <a:srgbClr val="05366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08375" y="4481850"/>
            <a:ext cx="627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Brought to you by Lost in a Forest Analytics 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100" y="2571751"/>
            <a:ext cx="2449778" cy="1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8799" y="2363528"/>
            <a:ext cx="1953701" cy="14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2" y="131875"/>
            <a:ext cx="6754800" cy="98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53661"/>
                </a:solidFill>
              </a:rPr>
              <a:t>Contents </a:t>
            </a:r>
            <a:endParaRPr sz="4800">
              <a:solidFill>
                <a:srgbClr val="05366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23550" y="1256200"/>
            <a:ext cx="6050400" cy="3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Overview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Demographics of churners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What do they look like in terms of gender, age, family makeup etc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What products are they using?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Factors </a:t>
            </a:r>
            <a:r>
              <a:rPr lang="en" sz="1800">
                <a:solidFill>
                  <a:schemeClr val="dk2"/>
                </a:solidFill>
              </a:rPr>
              <a:t>influencing</a:t>
            </a:r>
            <a:r>
              <a:rPr lang="en" sz="1800">
                <a:solidFill>
                  <a:schemeClr val="dk2"/>
                </a:solidFill>
              </a:rPr>
              <a:t> churning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What can Swan Teleco do to retain customers?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Incentives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Customer Service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25750" y="164250"/>
            <a:ext cx="8138100" cy="78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053661"/>
                </a:solidFill>
              </a:rPr>
              <a:t>Overview</a:t>
            </a:r>
            <a:endParaRPr sz="3780">
              <a:solidFill>
                <a:srgbClr val="05366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11050" y="1728713"/>
            <a:ext cx="4762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Total customers: 				7,043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Churners: 					1,869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Non Churners: 				5,174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11050" y="3342025"/>
            <a:ext cx="56598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Churn rate: 					  26.54%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Industry average Churn rate: 	  30-35% </a:t>
            </a:r>
            <a:r>
              <a:rPr lang="en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Significantly under current industry average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11050" y="1044138"/>
            <a:ext cx="5127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Total revenue: 	  		</a:t>
            </a:r>
            <a:r>
              <a:rPr b="1" lang="en" sz="1800">
                <a:solidFill>
                  <a:schemeClr val="dk2"/>
                </a:solidFill>
              </a:rPr>
              <a:t>$16,056,169</a:t>
            </a:r>
            <a:endParaRPr b="1" sz="1800">
              <a:solidFill>
                <a:schemeClr val="dk2"/>
              </a:solidFill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6745628" y="1320849"/>
            <a:ext cx="2347627" cy="2068848"/>
            <a:chOff x="6370850" y="1421950"/>
            <a:chExt cx="2358950" cy="2016225"/>
          </a:xfrm>
        </p:grpSpPr>
        <p:pic>
          <p:nvPicPr>
            <p:cNvPr id="76" name="Google Shape;7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70850" y="1904650"/>
              <a:ext cx="2076450" cy="153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5"/>
            <p:cNvSpPr txBox="1"/>
            <p:nvPr/>
          </p:nvSpPr>
          <p:spPr>
            <a:xfrm>
              <a:off x="6481600" y="1421950"/>
              <a:ext cx="2248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Total Customers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6725000" y="2203489"/>
              <a:ext cx="7533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Churned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7101675" y="2740125"/>
              <a:ext cx="8085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Retained</a:t>
              </a:r>
              <a:endParaRPr sz="12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53661"/>
                </a:solidFill>
              </a:rPr>
              <a:t>Demographics</a:t>
            </a:r>
            <a:endParaRPr sz="4800">
              <a:solidFill>
                <a:srgbClr val="053661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demographics of the people who churned in the 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4416675" y="48725"/>
            <a:ext cx="34731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Long term customer retention is good.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longer customers use Swan Teleco, the less likely they are to churn.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As mentioned in the introduction the churn rate is </a:t>
            </a:r>
            <a:r>
              <a:rPr lang="en" sz="1800">
                <a:solidFill>
                  <a:schemeClr val="dk2"/>
                </a:solidFill>
              </a:rPr>
              <a:t>26.54% which is below the average.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72087" l="19225" r="21398" t="16514"/>
          <a:stretch/>
        </p:blipFill>
        <p:spPr>
          <a:xfrm>
            <a:off x="4572000" y="2878900"/>
            <a:ext cx="4390626" cy="76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17624" r="20228" t="15254"/>
          <a:stretch/>
        </p:blipFill>
        <p:spPr>
          <a:xfrm>
            <a:off x="471075" y="0"/>
            <a:ext cx="3724356" cy="4819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28051" l="29809" r="45316" t="45927"/>
          <a:stretch/>
        </p:blipFill>
        <p:spPr>
          <a:xfrm>
            <a:off x="5356624" y="3354825"/>
            <a:ext cx="1593199" cy="15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18857" r="27341" t="15540"/>
          <a:stretch/>
        </p:blipFill>
        <p:spPr>
          <a:xfrm>
            <a:off x="3753000" y="0"/>
            <a:ext cx="3453250" cy="494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0" l="18446" r="25418" t="15404"/>
          <a:stretch/>
        </p:blipFill>
        <p:spPr>
          <a:xfrm>
            <a:off x="212650" y="0"/>
            <a:ext cx="3540351" cy="4913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6780475" y="802675"/>
            <a:ext cx="23481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25.4% of churners were senior citizens.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According to the data, neither gender listed churned more than the other.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6930700" y="999450"/>
            <a:ext cx="21870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35.8% of churners are in a relationship.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0.06% of churners had dependents.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1844" l="16782" r="26806" t="15435"/>
          <a:stretch/>
        </p:blipFill>
        <p:spPr>
          <a:xfrm>
            <a:off x="3439173" y="0"/>
            <a:ext cx="3491527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1514" l="19241" r="27116" t="14796"/>
          <a:stretch/>
        </p:blipFill>
        <p:spPr>
          <a:xfrm>
            <a:off x="222881" y="98075"/>
            <a:ext cx="3281669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1249050" y="859400"/>
            <a:ext cx="6645900" cy="150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53661"/>
                </a:solidFill>
              </a:rPr>
              <a:t>What products are being used?</a:t>
            </a:r>
            <a:endParaRPr sz="4800">
              <a:solidFill>
                <a:srgbClr val="05366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25" y="762747"/>
            <a:ext cx="1391575" cy="8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013" y="1362875"/>
            <a:ext cx="5814676" cy="35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472638" y="149675"/>
            <a:ext cx="5297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Basic Services Overview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6028700" y="762750"/>
            <a:ext cx="31152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Highlights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Only 11 of the churning customers used all available services.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Fiber Optic users have the highest expectancy to churn with 42% having done so.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606125" y="130425"/>
            <a:ext cx="6390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Specific Services overview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50" y="624275"/>
            <a:ext cx="5964349" cy="38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500" y="624275"/>
            <a:ext cx="2792300" cy="365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5">
            <a:alphaModFix/>
          </a:blip>
          <a:srcRect b="36719" l="-134239" r="134240" t="-13553"/>
          <a:stretch/>
        </p:blipFill>
        <p:spPr>
          <a:xfrm>
            <a:off x="3962350" y="342900"/>
            <a:ext cx="3200700" cy="30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075" y="0"/>
            <a:ext cx="2564800" cy="16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58" y="10897"/>
            <a:ext cx="4947725" cy="49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5564825" y="1566450"/>
            <a:ext cx="2864400" cy="24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distribution of churners based on the services they use does not indicate regional abnormalities.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675" y="0"/>
            <a:ext cx="2593325" cy="16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600" y="0"/>
            <a:ext cx="4763900" cy="494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/>
        </p:nvSpPr>
        <p:spPr>
          <a:xfrm>
            <a:off x="5195250" y="1176300"/>
            <a:ext cx="31416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geographical</a:t>
            </a:r>
            <a:r>
              <a:rPr lang="en" sz="1800">
                <a:solidFill>
                  <a:schemeClr val="dk2"/>
                </a:solidFill>
              </a:rPr>
              <a:t> overview of the complains that report bad network.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distribution does not indicate network problems to be a regional issue, </a:t>
            </a:r>
            <a:r>
              <a:rPr lang="en" sz="1800">
                <a:solidFill>
                  <a:schemeClr val="dk2"/>
                </a:solidFill>
              </a:rPr>
              <a:t>therefore</a:t>
            </a:r>
            <a:r>
              <a:rPr lang="en" sz="1800">
                <a:solidFill>
                  <a:schemeClr val="dk2"/>
                </a:solidFill>
              </a:rPr>
              <a:t> the </a:t>
            </a:r>
            <a:r>
              <a:rPr lang="en" sz="1800">
                <a:solidFill>
                  <a:schemeClr val="dk2"/>
                </a:solidFill>
              </a:rPr>
              <a:t>reasons</a:t>
            </a:r>
            <a:r>
              <a:rPr lang="en" sz="1800">
                <a:solidFill>
                  <a:schemeClr val="dk2"/>
                </a:solidFill>
              </a:rPr>
              <a:t> being local or isolated.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ctrTitle"/>
          </p:nvPr>
        </p:nvSpPr>
        <p:spPr>
          <a:xfrm>
            <a:off x="387458" y="1134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53661"/>
                </a:solidFill>
              </a:rPr>
              <a:t>What factors are most influential on someone churning?</a:t>
            </a:r>
            <a:endParaRPr sz="4800">
              <a:solidFill>
                <a:srgbClr val="05366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50" y="336650"/>
            <a:ext cx="7217024" cy="431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6581100" y="1289200"/>
            <a:ext cx="25632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Competitor offers and customer service are the two significantly largest factors when it comes to churning.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They account for over half of all Churners alone.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75" y="47950"/>
            <a:ext cx="7987525" cy="39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383575" y="3818400"/>
            <a:ext cx="8685000" cy="1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Graph goes into further detail on how the churn reasons are grouped.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Within the Competitor category, quality of product offered by these competitors ranks highly, along with offers(price).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00" y="81850"/>
            <a:ext cx="3799076" cy="348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775" y="81850"/>
            <a:ext cx="4327451" cy="348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6399075" y="935175"/>
            <a:ext cx="2608500" cy="2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Contract type is a significant indicator on whether a customer churns.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longer the contract the less likely a customer is to churn.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694900" y="3749375"/>
            <a:ext cx="83559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Average monthly charges were found to be significantly less in the case of retained customers, when compared with churners.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53661"/>
                </a:solidFill>
              </a:rPr>
              <a:t>What can Swan Teleco do to retain customers?</a:t>
            </a:r>
            <a:endParaRPr sz="4800">
              <a:solidFill>
                <a:srgbClr val="05366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ctrTitle"/>
          </p:nvPr>
        </p:nvSpPr>
        <p:spPr>
          <a:xfrm>
            <a:off x="311700" y="331275"/>
            <a:ext cx="74385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80">
                <a:solidFill>
                  <a:srgbClr val="053661"/>
                </a:solidFill>
              </a:rPr>
              <a:t>What sign up factor should Swan Teleco incentivise?</a:t>
            </a:r>
            <a:endParaRPr sz="2280">
              <a:solidFill>
                <a:srgbClr val="05366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/>
          </a:p>
        </p:txBody>
      </p:sp>
      <p:sp>
        <p:nvSpPr>
          <p:cNvPr id="178" name="Google Shape;178;p30"/>
          <p:cNvSpPr txBox="1"/>
          <p:nvPr/>
        </p:nvSpPr>
        <p:spPr>
          <a:xfrm>
            <a:off x="754475" y="870250"/>
            <a:ext cx="75171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     Contract length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As mentioned in the previous slide, Contract length has a big impact on whether a customer is likely to churn or not: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Two Year contract:  </a:t>
            </a:r>
            <a:r>
              <a:rPr b="1" lang="en" sz="1800">
                <a:solidFill>
                  <a:schemeClr val="dk2"/>
                </a:solidFill>
              </a:rPr>
              <a:t>3%</a:t>
            </a:r>
            <a:r>
              <a:rPr lang="en" sz="1800">
                <a:solidFill>
                  <a:schemeClr val="dk2"/>
                </a:solidFill>
              </a:rPr>
              <a:t> Churn rate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One year contract: </a:t>
            </a:r>
            <a:r>
              <a:rPr b="1" lang="en" sz="1800">
                <a:solidFill>
                  <a:schemeClr val="dk2"/>
                </a:solidFill>
              </a:rPr>
              <a:t>11%</a:t>
            </a:r>
            <a:r>
              <a:rPr lang="en" sz="1800">
                <a:solidFill>
                  <a:schemeClr val="dk2"/>
                </a:solidFill>
              </a:rPr>
              <a:t> Churn rate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Monthly contract:   </a:t>
            </a:r>
            <a:r>
              <a:rPr b="1" lang="en" sz="1800">
                <a:solidFill>
                  <a:schemeClr val="dk2"/>
                </a:solidFill>
              </a:rPr>
              <a:t>43%</a:t>
            </a:r>
            <a:r>
              <a:rPr lang="en" sz="1800">
                <a:solidFill>
                  <a:schemeClr val="dk2"/>
                </a:solidFill>
              </a:rPr>
              <a:t> Churn rate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Long term customers tend to have slightly lower monthly costs.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is our </a:t>
            </a:r>
            <a:r>
              <a:rPr lang="en" sz="1800">
                <a:solidFill>
                  <a:schemeClr val="dk2"/>
                </a:solidFill>
              </a:rPr>
              <a:t>recommendation</a:t>
            </a:r>
            <a:r>
              <a:rPr lang="en" sz="1800">
                <a:solidFill>
                  <a:schemeClr val="dk2"/>
                </a:solidFill>
              </a:rPr>
              <a:t> that Swan Teleco incentivise this further by offering sign up discounts to customers </a:t>
            </a:r>
            <a:r>
              <a:rPr lang="en" sz="1800">
                <a:solidFill>
                  <a:schemeClr val="dk2"/>
                </a:solidFill>
              </a:rPr>
              <a:t>committing</a:t>
            </a:r>
            <a:r>
              <a:rPr lang="en" sz="1800">
                <a:solidFill>
                  <a:schemeClr val="dk2"/>
                </a:solidFill>
              </a:rPr>
              <a:t> to longer contracts.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ctrTitle"/>
          </p:nvPr>
        </p:nvSpPr>
        <p:spPr>
          <a:xfrm>
            <a:off x="889725" y="0"/>
            <a:ext cx="6823500" cy="7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>
                <a:solidFill>
                  <a:srgbClr val="053661"/>
                </a:solidFill>
              </a:rPr>
              <a:t>Customer Service</a:t>
            </a:r>
            <a:endParaRPr sz="2280">
              <a:solidFill>
                <a:srgbClr val="053661"/>
              </a:solidFill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889725" y="1099750"/>
            <a:ext cx="7111200" cy="3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23% </a:t>
            </a:r>
            <a:r>
              <a:rPr lang="en" sz="1800">
                <a:solidFill>
                  <a:schemeClr val="dk2"/>
                </a:solidFill>
              </a:rPr>
              <a:t>of churners leave Swan Teleco due to dissatisfaction with the customer service in one form or another.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accounts for </a:t>
            </a:r>
            <a:r>
              <a:rPr b="1" lang="en" sz="1800">
                <a:solidFill>
                  <a:schemeClr val="dk2"/>
                </a:solidFill>
              </a:rPr>
              <a:t>8%</a:t>
            </a:r>
            <a:r>
              <a:rPr lang="en" sz="1800">
                <a:solidFill>
                  <a:schemeClr val="dk2"/>
                </a:solidFill>
              </a:rPr>
              <a:t> of customers total.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Customers value their interactions with a service provider highly, with “86% of buyers willing to pay more for a great customer experience.”</a:t>
            </a:r>
            <a:r>
              <a:rPr lang="en" sz="1200">
                <a:solidFill>
                  <a:srgbClr val="131416"/>
                </a:solidFill>
              </a:rPr>
              <a:t> </a:t>
            </a:r>
            <a:r>
              <a:rPr lang="en" sz="1200">
                <a:solidFill>
                  <a:srgbClr val="2E70E5"/>
                </a:solidFill>
              </a:rPr>
              <a:t>-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PwC</a:t>
            </a:r>
            <a:endParaRPr sz="1200">
              <a:solidFill>
                <a:srgbClr val="2E70E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E70E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 therefore urge Swan Teleco, to invest in its in house </a:t>
            </a:r>
            <a:r>
              <a:rPr lang="en" sz="1800">
                <a:solidFill>
                  <a:schemeClr val="dk2"/>
                </a:solidFill>
              </a:rPr>
              <a:t>training</a:t>
            </a:r>
            <a:r>
              <a:rPr lang="en" sz="1800">
                <a:solidFill>
                  <a:schemeClr val="dk2"/>
                </a:solidFill>
              </a:rPr>
              <a:t> and customer service systems in order to </a:t>
            </a:r>
            <a:r>
              <a:rPr lang="en" sz="1800">
                <a:solidFill>
                  <a:schemeClr val="dk2"/>
                </a:solidFill>
              </a:rPr>
              <a:t>increase</a:t>
            </a:r>
            <a:r>
              <a:rPr lang="en" sz="1800">
                <a:solidFill>
                  <a:schemeClr val="dk2"/>
                </a:solidFill>
              </a:rPr>
              <a:t> customer satisfaction, and subsequently customer retention.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